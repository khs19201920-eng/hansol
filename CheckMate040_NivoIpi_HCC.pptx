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22ceea4-492b-8ed5-b85d-abd0cb47a021}">
          <p14:sldIdLst>
            <p14:sldId id="256"/>
            <p14:sldId id="257"/>
            <p14:sldId id="258"/>
          </p14:sldIdLst>
        </p14:section>
        <p14:section name="연구 방법" id="{8cb1f4c8-7a50-76e9-0687-606b1f4c8804}">
          <p14:sldIdLst>
            <p14:sldId id="259"/>
            <p14:sldId id="260"/>
            <p14:sldId id="261"/>
          </p14:sldIdLst>
        </p14:section>
        <p14:section name="유효성" id="{5b4d1b61-90af-c26d-1d54-1f45497c4c63}">
          <p14:sldIdLst>
            <p14:sldId id="262"/>
            <p14:sldId id="263"/>
            <p14:sldId id="264"/>
            <p14:sldId id="265"/>
            <p14:sldId id="266"/>
          </p14:sldIdLst>
        </p14:section>
        <p14:section name="안전성" id="{39bb5d13-09c1-1282-d7a0-b0c0c63dde5f}">
          <p14:sldIdLst>
            <p14:sldId id="267"/>
            <p14:sldId id="268"/>
          </p14:sldIdLst>
        </p14:section>
        <p14:section name="고찰 및 결론" id="{b8ae9a57-2b95-733a-ae47-f515750023d6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0B3C49"/>
                </a:solidFill>
                <a:latin typeface="+mn-lt"/>
              </a:rPr>
              <a:t>객관적 반응률 (ORR)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Arm A</c:v>
                </c:pt>
              </c:strCache>
            </c:strRef>
          </c:tx>
          <c:spPr>
            <a:solidFill>
              <a:srgbClr val="E07A2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연구자 평가
(RECIST v1.1)</c:v>
                  </c:pt>
                  <c:pt idx="1">
                    <c:v>BICR
(RECIST v1.1)</c:v>
                  </c:pt>
                  <c:pt idx="2">
                    <c:v>BICR
(mRECIST)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</c:v>
                </c:pt>
                <c:pt idx="1">
                  <c:v>32</c:v>
                </c:pt>
                <c:pt idx="2">
                  <c:v>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Arm B</c:v>
                </c:pt>
              </c:strCache>
            </c:strRef>
          </c:tx>
          <c:spPr>
            <a:solidFill>
              <a:srgbClr val="2E7D8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연구자 평가
(RECIST v1.1)</c:v>
                  </c:pt>
                  <c:pt idx="1">
                    <c:v>BICR
(RECIST v1.1)</c:v>
                  </c:pt>
                  <c:pt idx="2">
                    <c:v>BICR
(mRECIST)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27</c:v>
                </c:pt>
                <c:pt idx="1">
                  <c:v>31</c:v>
                </c:pt>
                <c:pt idx="2">
                  <c:v>33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Arm C</c:v>
                </c:pt>
              </c:strCache>
            </c:strRef>
          </c:tx>
          <c:spPr>
            <a:solidFill>
              <a:srgbClr val="8FB5B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연구자 평가
(RECIST v1.1)</c:v>
                  </c:pt>
                  <c:pt idx="1">
                    <c:v>BICR
(RECIST v1.1)</c:v>
                  </c:pt>
                  <c:pt idx="2">
                    <c:v>BICR
(mRECIST)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29</c:v>
                </c:pt>
                <c:pt idx="1">
                  <c:v>31</c:v>
                </c:pt>
                <c:pt idx="2">
                  <c:v>31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F2A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A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6350" cap="flat">
              <a:solidFill>
                <a:srgbClr val="DDE5E7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1F2A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0B3C49"/>
                </a:solidFill>
                <a:latin typeface="+mn-lt"/>
              </a:rPr>
              <a:t>중앙 전체 생존기간 (개월)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중앙 OS (개월)</c:v>
                </c:pt>
              </c:strCache>
            </c:strRef>
          </c:tx>
          <c:spPr>
            <a:solidFill>
              <a:srgbClr val="E07A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F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7A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FB5B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Arm A</c:v>
                  </c:pt>
                  <c:pt idx="1">
                    <c:v>Arm B</c:v>
                  </c:pt>
                  <c:pt idx="2">
                    <c:v>Arm 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22.8</c:v>
                </c:pt>
                <c:pt idx="1">
                  <c:v>12.5</c:v>
                </c:pt>
                <c:pt idx="2">
                  <c:v>12.7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600" u="none">
                  <a:solidFill>
                    <a:srgbClr val="1F2A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F2A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0B3C49"/>
                </a:solidFill>
                <a:latin typeface="+mn-lt"/>
              </a:rPr>
              <a:t>치료 관련 이상반응 (TRAE), 안전성 분석군 (n=146)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Arm A</c:v>
                </c:pt>
              </c:strCache>
            </c:strRef>
          </c:tx>
          <c:spPr>
            <a:solidFill>
              <a:srgbClr val="E07A2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모든 등급 TRAE</c:v>
                  </c:pt>
                  <c:pt idx="1">
                    <c:v>TRAE로 인한 중단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94</c:v>
                </c:pt>
                <c:pt idx="1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Arm B</c:v>
                </c:pt>
              </c:strCache>
            </c:strRef>
          </c:tx>
          <c:spPr>
            <a:solidFill>
              <a:srgbClr val="2E7D8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모든 등급 TRAE</c:v>
                  </c:pt>
                  <c:pt idx="1">
                    <c:v>TRAE로 인한 중단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71</c:v>
                </c:pt>
                <c:pt idx="1">
                  <c:v>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Arm C</c:v>
                </c:pt>
              </c:strCache>
            </c:strRef>
          </c:tx>
          <c:spPr>
            <a:solidFill>
              <a:srgbClr val="8FB5B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모든 등급 TRAE</c:v>
                  </c:pt>
                  <c:pt idx="1">
                    <c:v>TRAE로 인한 중단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79</c:v>
                </c:pt>
                <c:pt idx="1">
                  <c:v>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F2A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A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5E7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1F2A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0B3C49"/>
                </a:solidFill>
                <a:latin typeface="+mn-lt"/>
              </a:rPr>
              <a:t>중앙 OS (개월)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중앙 OS (개월)</c:v>
                </c:pt>
              </c:strCache>
            </c:strRef>
          </c:tx>
          <c:spPr>
            <a:solidFill>
              <a:srgbClr val="E07A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7A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7A8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7A8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B7A8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FB5B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FB5B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FB5BD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NIVO+IPI (Arm A)</c:v>
                  </c:pt>
                  <c:pt idx="1">
                    <c:v>Nivolumab 단독</c:v>
                  </c:pt>
                  <c:pt idx="2">
                    <c:v>Pembrolizumab (3상)</c:v>
                  </c:pt>
                  <c:pt idx="3">
                    <c:v>Pembrolizumab (2상)</c:v>
                  </c:pt>
                  <c:pt idx="4">
                    <c:v>Regorafenib</c:v>
                  </c:pt>
                  <c:pt idx="5">
                    <c:v>Cabozantinib</c:v>
                  </c:pt>
                  <c:pt idx="6">
                    <c:v>Ramucirumab*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22.8</c:v>
                </c:pt>
                <c:pt idx="1">
                  <c:v>15.1</c:v>
                </c:pt>
                <c:pt idx="2">
                  <c:v>13.9</c:v>
                </c:pt>
                <c:pt idx="3">
                  <c:v>12.9</c:v>
                </c:pt>
                <c:pt idx="4">
                  <c:v>10.6</c:v>
                </c:pt>
                <c:pt idx="5">
                  <c:v>10.2</c:v>
                </c:pt>
                <c:pt idx="6">
                  <c:v>8.5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F2A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A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7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0B3C49"/>
                </a:solidFill>
                <a:latin typeface="+mn-lt"/>
              </a:rPr>
              <a:t>ORR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ORR (%)</c:v>
                </c:pt>
              </c:strCache>
            </c:strRef>
          </c:tx>
          <c:spPr>
            <a:solidFill>
              <a:srgbClr val="E07A2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7A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7A8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7A8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B7A8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FB5B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FB5B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FB5BD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NIVO+IPI (Arm A)</c:v>
                  </c:pt>
                  <c:pt idx="1">
                    <c:v>Nivolumab 단독</c:v>
                  </c:pt>
                  <c:pt idx="2">
                    <c:v>Pembrolizumab (3상)</c:v>
                  </c:pt>
                  <c:pt idx="3">
                    <c:v>Pembrolizumab (2상)</c:v>
                  </c:pt>
                  <c:pt idx="4">
                    <c:v>Regorafenib</c:v>
                  </c:pt>
                  <c:pt idx="5">
                    <c:v>Cabozantinib</c:v>
                  </c:pt>
                  <c:pt idx="6">
                    <c:v>Ramucirumab*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</c:v>
                </c:pt>
                <c:pt idx="1">
                  <c:v>14</c:v>
                </c:pt>
                <c:pt idx="2">
                  <c:v>18</c:v>
                </c:pt>
                <c:pt idx="3">
                  <c:v>17</c:v>
                </c:pt>
                <c:pt idx="4">
                  <c:v>11</c:v>
                </c:pt>
                <c:pt idx="5">
                  <c:v>4</c:v>
                </c:pt>
                <c:pt idx="6">
                  <c:v>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F2A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A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CheckMate 040 연구 중 nivolumab + ipilimumab 병용 코호트 결과를 소개합니다. 이 결과를 근거로 Arm A 요법(NIVO 1 mg/kg + IPI 3 mg/kg)이 미국 FDA에서 소라페닙 이후 2차 HCC 치료로 가속 승인을 받았습니다.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간암은 전 세계 암 사망 원인 4위이며 75-85%가 HCC입니다. 대부분 진단 시 이미 진행 병기로 절제나 이식이 불가능합니다. 소라페닙 이후 regorafenib, cabozantinib, ramucirumab의 3상 중앙 OS는 8.5-10.6개월입니다. Nivolumab 단독은 CheckMate 040에서 ORR 14%, 중앙 OS 15.1개월을 보였고, 더 많은 환자에서 지속적 반응을 얻기 위해 병용요법이 연구되었습니다.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CTLA-4는 주로 림프 기관에서 활성 T세포와 조절 T세포를 억제하고, PD-1은 주로 종양 미세환경에서 T세포 탈진에 관여합니다. 두 경로를 함께 차단하면 서로 다른 기전으로 항종양 면역을 증강할 수 있습니다. 이 병용은 신세포암, 비소세포폐암, 흑색종, MSI-H/dMMR 대장암에서 이미 효과가 입증되었습니다.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다기관, 공개 라벨, 다코호트 1/2상 연구입니다. 아시아, 유럽, 북미 31개 기관에서 2016년 1-9월 148명을 무작위 배정했습니다. 층화 없이 IVRS로 블록 무작위 배정했고, 각 군 12명씩 13주 안전성 평가 후 추가 등록했습니다. Arm A와 B는 4회 병용 후 nivolumab 240 mg 2주 간격 유지요법, Arm C는 nivolumab 2주 + ipilimumab 6주 간격 지속 병용입니다. 공동 1차 평가변수는 안전성·내약성과 연구자 평가 ORR이며, 군 간 차이를 검출할 검정력은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남성 81%, 중앙 연령 60세입니다. 99%가 소라페닙 치료를 받았고 84%는 질병 진행, 14%는 독성으로 중단했습니다. 예후 불량 인자와 HBV 관련 HCC 비율이 높았고 9%는 3개 이상의 전신치료를 받았습니다. 기저 특성은 군 간 대체로 비슷했습니다. 데이터 컷오프는 2019년 1월, 중앙 추적 기간 30.7개월입니다.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209명이 선별되어 148명이 무작위 배정되었습니다. 2명은 투여 전 부적격으로 안전성 분석에서 제외되어 146명이 안전성 분석에 포함되었습니다. 치료 중단의 주된 이유는 질병 진행이었고, 치료 관련 이상반응으로 인한 중단은 Arm A에서 10명으로 가장 많았습니다.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연구자 평가 ORR은 Arm A 32%, B 27%, C 29%였습니다. BICR 평가(RECIST v1.1)는 32%, 31%, 31%, mRECIST는 34%, 33%, 31%로 평가 방법에 관계없이 일관되었습니다. BICR 기준 완전 반응은 7명(Arm A 4명, B 3명)이었습니다. 반응은 병인(HBV, HCV, 비감염)과 PD-L1 발현에 관계없이 관찰되었으나 하위군이 작아 결론에는 한계가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BICR(RECIST v1.1) 기준 최선 종합 반응입니다. Arm A의 CR은 8%, DCR은 54%로 가장 높았습니다. 반응자의 약 30%는 24개월 이상 반응을 유지했고, 반응까지의 중앙 기간은 2-3개월로 반응이 치료 초기에 나타났습니다.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연구자 평가 기준 중앙 반응 지속 기간은 Arm A에서 미도달(8.3-33.7+개월), Arm B 15.2개월, Arm C 21.7개월이었습니다. BICR 기준으로는 17.5, 22.2, 16.6개월입니다. 반응자의 27-33%는 24개월 이상 반응을 유지했습니다.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중앙 OS는 Arm A 22.8개월(95% CI 9.4-NE), Arm B 12.5개월(7.6-16.4), Arm C 12.7개월(7.4-33.0)이었습니다. Arm A의 12개월 생존율은 61%, 24개월 48%, 30개월 44%입니다. Arm A의 높은 ipilimumab 시작 용량이 기여했을 수 있으나 군 간 차이를 검출할 검정력은 없었다는 점을 함께 강조해야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환자에서 최선 반응별로 보면 CR/PR 환자의 중앙 OS는 데이터 컷오프 시점에 미도달(95% CI 33.0-NE)이었고, SD 14.5개월, PD 8.3개월이었습니다. 치료로 반응을 얻는 것이 중요함을 보여줍니다. 다만 반응별 생존 분석은 무작위 비교가 아니라는 점에 유의해야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모든 등급의 치료 관련 이상반응은 Arm A 94%, B 71%, C 79%였습니다. 치료 관련 이상반응으로 인한 중단은 18%, 6%, 2%였습니다. 이상반응의 종류는 군 간 유사했고 새로운 안전성 신호는 없었습니다. 마지막 투여 후 100일 이내 치료 관련 사망은 Arm A의 5등급 폐렴 1건이었습니다. 면역 관련 이상반응 후 재투여한 환자에서 재발은 없었습니다. 3-4등급 세부 수치는 보충자료 eTable 6을 참고하십시오.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간 관련 면역 이상반응은 Arm A 10명, B 6명, C 3명이었고 중앙 발현 시점은 5.6, 8.1, 5.9주였습니다. 해소율은 90%, 83%, 67%였습니다. 고용량 스테로이드(프레드니손 40 mg/일 이상)는 7, 3, 2명에서 중앙 1-3주 사용되었고 추가 면역억제제를 사용한 환자는 없었습니다. 바이러스 재활성(1-log 이상 증가)은 HBV 9%, HCV 10%였고 간 관련 중대 이상반응과 연관되지 않았습니다. 건강 상태(EQ-5D)는 모든 군에서 개선 경향을 보였고 Arm A에서 가장 컸습니다.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서로 다른 시험 간 간접 비교이므로 해석에 주의가 필요합니다. Nivolumab 단독은 중앙 OS 15.1개월, ORR 14%, pembrolizumab 2상은 12.9개월과 17%, 3상은 13.9개월과 18%였습니다. Regorafenib과 cabozantinib은 10.6개월과 11%, 10.2개월과 4%, ramucirumab(AFP 400 이상)은 8.5개월과 5%였습니다. CheckMate 040 Arm A는 22.8개월, ORR 32%(BICR)였습니다. 시험 간 환자 특성, 시기, 평가 방법이 다릅니다.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공개 라벨 1/2상 연구로 규모가 작고, nivolumab 단독 등 대조군이 없으며, 층화 없이 배정되어 예후 인자가 군 간 균형을 이루지 않았을 수 있습니다. 반면 고위험, 다수 전치료, 간외 전이와 AFP 상승 빈도가 높은 비선택적 환자군이라는 점은 실제 진료 환경과의 연관성을 높입니다.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소라페닙 치료 경험이 있는 진행성 HCC에서 nivolumab + ipilimumab은 관리 가능한 안전성과 높은 ORR, 지속적인 반응을 보였고, 특히 Arm A에서 생존 결과가 유망했습니다. 이 결과로 Arm A 요법이 미국에서 가속 승인을 받았습니다. 논문 발표 당시 1차 치료 연구인 CheckMate 9DW가 진행 중이었으며, 최신 결과는 별도로 확인하여 함께 소개하시기를 권합니다.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Yau T, et al. JAMA Oncol. 2020;6(11):e204564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소라페닙 치료 경험이 있는 진행성 간세포암에서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Nivolumab + Ipilimumab의 유효성과 안전성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CheckMate 040 무작위 배정 1/2상 임상시험 (NCT01658878)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Yau T, et al. JAMA Oncol. 2020;6(11):e204564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발표자 · 소속 · 날짜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2차 HCC 치료의 반응률과 생존은 여전히 제한적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508760"/>
            <a:ext cx="6035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68680" y="16002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75–85%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3611880" y="16002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간암 중 간세포암(HCC)의 비율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6035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15468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8.5–10.6개월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3611880" y="31546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소라페닙 이후 MKI·ramucirumab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3상 연구의 중앙 OS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4617720"/>
            <a:ext cx="6035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68680" y="47091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14%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47091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Nivolumab 단독요법의 ORR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(CheckMate 040)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949440" y="1508760"/>
            <a:ext cx="4663440" cy="4480560"/>
          </a:xfrm>
          <a:prstGeom prst="roundRect">
            <a:avLst>
              <a:gd name="adj" fmla="val 2449"/>
            </a:avLst>
          </a:prstGeom>
          <a:solidFill>
            <a:schemeClr val="tx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315200" y="1828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연구 질문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0" y="242316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PD-1 억제제(nivolumab)에 CTLA-4 억제제(ipilimumab)를 더하면, 소라페닙 치료 후 진행성 HCC 환자에서 더 많은 환자가 더 오래 지속되는 반응을 얻을 수 있을까?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PD-1과 CTLA-4 차단은 서로 다른 단계에서 상호보완적으로 작용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508760"/>
            <a:ext cx="521208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868680" y="178308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CTLA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-4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87452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Ipilimumab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874520" y="2240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림프 기관 · T세포 활성화(priming) 단계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9260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활성 T세포와 조절 T세포(Treg)에 대한 억제 신호 차단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새로운 종양 특이 T세포의 활성화·증식 촉진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28232" y="1508760"/>
            <a:ext cx="521208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6748272" y="178308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748272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PD-1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754112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Nivolumab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7754112" y="2240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종양 미세환경 · 작동(effector) 단계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793992" y="29260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종양 내 T세포 탈진(exhaustion) 회복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기존 종양 반응성 T세포의 살상 기능 재활성화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769864" y="281635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769864" y="2816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+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48640" y="5029200"/>
            <a:ext cx="1106424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68680" y="502920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근거: Nivolumab + Ipilimumab은 신세포암, 비소세포폐암, 흑색종, MSI-H/dMMR 대장암에서 효과 입증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3가지 용량 요법을 1:1:1로 무작위 배정한 다기관 1/2상 연구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508760"/>
            <a:ext cx="2926080" cy="3200400"/>
          </a:xfrm>
          <a:prstGeom prst="roundRect">
            <a:avLst>
              <a:gd name="adj" fmla="val 3750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737360"/>
            <a:ext cx="2514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chemeClr val="bg1"/>
                </a:solidFill>
              </a:rPr>
              <a:t>N = 148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31개 기관 · 10개국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chemeClr val="bg1"/>
                </a:solidFill>
              </a:rPr>
              <a:t> 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소라페닙 치료 경험 진행성 HCC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Child-Pugh 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ECOG PS 0–1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HBV/HCV 감염 여부 무관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703320" y="2788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70332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3566160" y="3474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1:1:1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 flipV="1">
            <a:off x="4343400" y="3108960"/>
            <a:ext cx="228600" cy="-114300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1508760"/>
            <a:ext cx="70408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4754880" y="1673352"/>
            <a:ext cx="585216" cy="585216"/>
          </a:xfrm>
          <a:prstGeom prst="ellipse">
            <a:avLst/>
          </a:prstGeom>
          <a:solidFill>
            <a:srgbClr val="E07A2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754880" y="16733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0" y="150876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 = 50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92240" y="16002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NIVO 1 mg/kg + IPI 3 mg/kg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Q3W × 4회 → NIVO 240 mg Q2W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 flipV="1">
            <a:off x="4343400" y="3108960"/>
            <a:ext cx="228600" cy="-4572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0" y="2606040"/>
            <a:ext cx="70408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7" name="Shape 14"/>
          <p:cNvSpPr/>
          <p:nvPr/>
        </p:nvSpPr>
        <p:spPr>
          <a:xfrm>
            <a:off x="4754880" y="2770632"/>
            <a:ext cx="585216" cy="585216"/>
          </a:xfrm>
          <a:prstGeom prst="ellipse">
            <a:avLst/>
          </a:prstGeom>
          <a:solidFill>
            <a:srgbClr val="2E7D8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754880" y="27706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0" y="26060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 = 49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492240" y="26974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NIVO 3 mg/kg + IPI 1 mg/kg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Q3W × 4회 → NIVO 240 mg Q2W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343400" y="3108960"/>
            <a:ext cx="228600" cy="105156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0" y="3703320"/>
            <a:ext cx="70408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3" name="Shape 20"/>
          <p:cNvSpPr/>
          <p:nvPr/>
        </p:nvSpPr>
        <p:spPr>
          <a:xfrm>
            <a:off x="4754880" y="3867912"/>
            <a:ext cx="585216" cy="585216"/>
          </a:xfrm>
          <a:prstGeom prst="ellipse">
            <a:avLst/>
          </a:prstGeom>
          <a:solidFill>
            <a:srgbClr val="8FB5B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754880" y="38679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0" y="370332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 = 49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492240" y="37947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NIVO 3 mg/kg Q2W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+ IPI 1 mg/kg Q6W (지속 병용)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548640" y="4983480"/>
            <a:ext cx="5394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22960" y="50749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공동 1차 평가변수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안전성·내약성, ORR (연구자 평가, RECIST v1.1)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6217920" y="4983480"/>
            <a:ext cx="5394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492240" y="50749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2차·탐색적 평가변수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BICR 평가 ORR·DCR·DOR, mRECIST ORR, OS, PD-L1별 반응, PRO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고위험·다수 전치료 환자가 포함된 비선택적 환자군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50876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68680" y="16459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148명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4871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무작위 배정 환자 (ITT)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297680" y="150876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617720" y="16459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60세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4617720" y="24871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중앙 연령 (IQR 52.5–66.5)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046720" y="150876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366760" y="16459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81%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8366760" y="24871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남성 (120명)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347472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68680" y="3611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99%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44531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소라페닙 전치료 (146명)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297680" y="347472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617720" y="3611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84%</a:t>
            </a:r>
            <a:endParaRPr lang="en-US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4617720" y="44531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질병 진행으로 소라페닙 중단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(독성 중단 14%)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046720" y="347472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366760" y="3611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30.7개월</a:t>
            </a:r>
            <a:endParaRPr lang="en-US" sz="4000" dirty="0"/>
          </a:p>
        </p:txBody>
      </p:sp>
      <p:sp>
        <p:nvSpPr>
          <p:cNvPr id="21" name="Text 18"/>
          <p:cNvSpPr txBox="1"/>
          <p:nvPr/>
        </p:nvSpPr>
        <p:spPr>
          <a:xfrm>
            <a:off x="8366760" y="44531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중앙 추적 기간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(데이터 컷오프 2019년 1월)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예후 불량 인자 및 HBV 관련 HCC 비율이 높았으며, 9%는 3개 이상의 전신치료 경험 · 기저 특성은 군 간 대체로 유사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209명 선별, 148명 무작위 배정 및 전원 유효성 분석 포함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270248" y="1463040"/>
            <a:ext cx="365760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270248" y="1463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선별 209명  →  무작위 배정 148명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배정 / 투여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46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치료 중단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794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  └ 질병 진행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343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  └ 치료 관련 AE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892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치료 지속 (컷오프)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440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유효성 / 안전성 분석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474720" y="2148840"/>
            <a:ext cx="2560320" cy="3886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2240280"/>
            <a:ext cx="502920" cy="502920"/>
          </a:xfrm>
          <a:prstGeom prst="ellipse">
            <a:avLst/>
          </a:prstGeom>
          <a:solidFill>
            <a:srgbClr val="E07A2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48056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2697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50 / 49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3474720" y="3246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39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3474720" y="3794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25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3474720" y="4343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accent4"/>
                </a:solidFill>
              </a:rPr>
              <a:t>10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3474720" y="4892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10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3474720" y="5440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50 / 49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6217920" y="2148840"/>
            <a:ext cx="2560320" cy="3886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22" name="Shape 19"/>
          <p:cNvSpPr/>
          <p:nvPr/>
        </p:nvSpPr>
        <p:spPr>
          <a:xfrm>
            <a:off x="7223760" y="2240280"/>
            <a:ext cx="502920" cy="502920"/>
          </a:xfrm>
          <a:prstGeom prst="ellipse">
            <a:avLst/>
          </a:prstGeom>
          <a:solidFill>
            <a:srgbClr val="2E7D8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22376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217920" y="2697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49 / 49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6217920" y="3246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40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6217920" y="3794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31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6217920" y="4343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3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6217920" y="4892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9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6217920" y="5440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49 / 49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8961120" y="2148840"/>
            <a:ext cx="2560320" cy="3886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31" name="Shape 28"/>
          <p:cNvSpPr/>
          <p:nvPr/>
        </p:nvSpPr>
        <p:spPr>
          <a:xfrm>
            <a:off x="9966960" y="2240280"/>
            <a:ext cx="502920" cy="502920"/>
          </a:xfrm>
          <a:prstGeom prst="ellipse">
            <a:avLst/>
          </a:prstGeom>
          <a:solidFill>
            <a:srgbClr val="8FB5BD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996696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8961120" y="2697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49 / 48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8961120" y="3246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38</a:t>
            </a:r>
            <a:endParaRPr lang="en-US" sz="1700" dirty="0"/>
          </a:p>
        </p:txBody>
      </p:sp>
      <p:sp>
        <p:nvSpPr>
          <p:cNvPr id="35" name="Text 32"/>
          <p:cNvSpPr txBox="1"/>
          <p:nvPr/>
        </p:nvSpPr>
        <p:spPr>
          <a:xfrm>
            <a:off x="8961120" y="3794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32</a:t>
            </a:r>
            <a:endParaRPr lang="en-US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8961120" y="4343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1</a:t>
            </a:r>
            <a:endParaRPr lang="en-US" sz="1700" dirty="0"/>
          </a:p>
        </p:txBody>
      </p:sp>
      <p:sp>
        <p:nvSpPr>
          <p:cNvPr id="37" name="Text 34"/>
          <p:cNvSpPr txBox="1"/>
          <p:nvPr/>
        </p:nvSpPr>
        <p:spPr>
          <a:xfrm>
            <a:off x="8961120" y="4892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10</a:t>
            </a:r>
            <a:endParaRPr lang="en-US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8961120" y="5440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49 / 48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모든 군에서 ORR 약 30% — Nivolumab 단독(14%)의 약 2배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7863840" y="1508760"/>
            <a:ext cx="3749040" cy="2148840"/>
          </a:xfrm>
          <a:prstGeom prst="roundRect">
            <a:avLst>
              <a:gd name="adj" fmla="val 5106"/>
            </a:avLst>
          </a:prstGeom>
          <a:solidFill>
            <a:schemeClr val="tx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183880" y="169164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7명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BICR 평가 완전 반응(CR)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Arm A 4명 (8%) · Arm B 3명 (6%)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7863840" y="3840480"/>
            <a:ext cx="37490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8183880" y="402336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일관된 반응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평가 방법(연구자·BICR·mRECIST), 병인(HBV·HCV·비감염), PD-L1 발현과 관계없이 반응 관찰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Arm A에서 완전 반응률과 질병 조절률이 가장 높음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286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BICR, RECIST v1.1 — n (%)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Arm A (n=50)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Arm B (n=49)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Arm C (n=49)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B5B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완전 반응 (CR)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 (8)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 (6)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부분 반응 (PR)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 (24)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 (24)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 (31)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안정 병변 (SD)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 (18)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 (10)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 (18)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 병변 (PD)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 (40)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 (49)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 (43)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 불가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 (6)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 (8)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 (8)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질병 조절률 (DCR)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 (54)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 (43)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 (49)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반응 지속 ≥24개월*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 (31)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 (27)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 (33)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반응까지 기간, 중앙값 (개월)*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2.6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* 반응자(CR+PR) 대상. DCR = CR + PR + SD + non-CR/non-PD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반응은 2–3개월 내 빠르게 나타나 오래 지속됨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389120" y="1463040"/>
            <a:ext cx="548640" cy="548640"/>
          </a:xfrm>
          <a:prstGeom prst="ellipse">
            <a:avLst/>
          </a:prstGeom>
          <a:solidFill>
            <a:srgbClr val="E07A2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3891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132320" y="1463040"/>
            <a:ext cx="548640" cy="548640"/>
          </a:xfrm>
          <a:prstGeom prst="ellipse">
            <a:avLst/>
          </a:prstGeom>
          <a:solidFill>
            <a:srgbClr val="2E7D8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1323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875520" y="1463040"/>
            <a:ext cx="548640" cy="548640"/>
          </a:xfrm>
          <a:prstGeom prst="ellipse">
            <a:avLst/>
          </a:prstGeom>
          <a:solidFill>
            <a:srgbClr val="8FB5B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8755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103120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7240" y="210312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반응까지 기간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중앙값 (BICR)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429000" y="210312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2.0개월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6172200" y="210312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2.6개월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8915400" y="210312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2.7개월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548640" y="3017520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" y="301752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반응 지속 기간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중앙값 (연구자)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429000" y="301752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미도달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6172200" y="301752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15.2개월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8915400" y="301752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21.7개월</a:t>
            </a:r>
            <a:endParaRPr lang="en-US" sz="2600" dirty="0"/>
          </a:p>
        </p:txBody>
      </p:sp>
      <p:sp>
        <p:nvSpPr>
          <p:cNvPr id="20" name="Shape 17"/>
          <p:cNvSpPr/>
          <p:nvPr/>
        </p:nvSpPr>
        <p:spPr>
          <a:xfrm>
            <a:off x="548640" y="3931920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77240" y="393192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반응 지속 기간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중앙값 (BICR)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429000" y="393192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17.5개월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6172200" y="393192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22.2개월</a:t>
            </a:r>
            <a:endParaRPr lang="en-US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8915400" y="393192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16.6개월</a:t>
            </a:r>
            <a:endParaRPr lang="en-US" sz="2600" dirty="0"/>
          </a:p>
        </p:txBody>
      </p:sp>
      <p:sp>
        <p:nvSpPr>
          <p:cNvPr id="25" name="Shape 22"/>
          <p:cNvSpPr/>
          <p:nvPr/>
        </p:nvSpPr>
        <p:spPr>
          <a:xfrm>
            <a:off x="548640" y="4846320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77240" y="484632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24개월 이상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반응 유지 (BICR)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3429000" y="484632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31%</a:t>
            </a:r>
            <a:endParaRPr lang="en-US" sz="2600" dirty="0"/>
          </a:p>
        </p:txBody>
      </p:sp>
      <p:sp>
        <p:nvSpPr>
          <p:cNvPr id="28" name="Text 25"/>
          <p:cNvSpPr txBox="1"/>
          <p:nvPr/>
        </p:nvSpPr>
        <p:spPr>
          <a:xfrm>
            <a:off x="6172200" y="484632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27%</a:t>
            </a:r>
            <a:endParaRPr lang="en-US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8915400" y="484632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33%</a:t>
            </a:r>
            <a:endParaRPr lang="en-US" sz="26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5760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모든 반응은 치료 초기에 발생 · 여러 반응자에서 깊은 종양 감소 관찰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Arm A의 중앙 OS 22.8개월 — 2년 생존율 48%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309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66928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95% CI — A: 9.4–NE · B: 7.6–16.4 · C: 7.4–33.0</a:t>
            </a:r>
            <a:endParaRPr lang="en-US" sz="1200" dirty="0"/>
          </a:p>
        </p:txBody>
      </p:sp>
      <p:sp>
        <p:nvSpPr>
          <p:cNvPr id="6" name="Shape 2"/>
          <p:cNvSpPr/>
          <p:nvPr/>
        </p:nvSpPr>
        <p:spPr>
          <a:xfrm>
            <a:off x="7223760" y="1508760"/>
            <a:ext cx="4389120" cy="45262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7543800" y="1691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Arm A 랜드마크 생존율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7543800" y="22860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61%</a:t>
            </a:r>
            <a:endParaRPr lang="en-US" sz="4000" dirty="0"/>
          </a:p>
        </p:txBody>
      </p:sp>
      <p:sp>
        <p:nvSpPr>
          <p:cNvPr id="9" name="Text 5"/>
          <p:cNvSpPr txBox="1"/>
          <p:nvPr/>
        </p:nvSpPr>
        <p:spPr>
          <a:xfrm>
            <a:off x="9601200" y="22860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12개월 OS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543800" y="34747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48%</a:t>
            </a:r>
            <a:endParaRPr lang="en-US" sz="4000" dirty="0"/>
          </a:p>
        </p:txBody>
      </p:sp>
      <p:sp>
        <p:nvSpPr>
          <p:cNvPr id="11" name="Text 7"/>
          <p:cNvSpPr txBox="1"/>
          <p:nvPr/>
        </p:nvSpPr>
        <p:spPr>
          <a:xfrm>
            <a:off x="9601200" y="3474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24개월 OS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7543800" y="46634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44%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9601200" y="4663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30개월 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객관적 반응의 달성은 생존 연장과 연관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91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CR / PR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n = 46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377440" y="1828800"/>
            <a:ext cx="7680960" cy="640080"/>
          </a:xfrm>
          <a:prstGeom prst="homePlat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2606040" y="18288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미도달 (95% CI 하한 33.0개월)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SD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n = 26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377440" y="3154680"/>
            <a:ext cx="3093720" cy="6400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654040" y="3154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14.5개월 (8.4–29.6)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3434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PD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n = 65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377440" y="4480560"/>
            <a:ext cx="1770888" cy="64008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331208" y="4480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8.3개월 (6.6–10.8)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중앙 OS — 전체 환자, 최선 종합 반응별 (BICR)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5532120"/>
            <a:ext cx="1106424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7240" y="55321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병인별 Arm A 중앙 OS: 비감염 22.2개월 · HBV 22.8개월 · HCV 14.9개월 (하위군 규모가 작아 비교에 한계)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Arm A에서 이상반응이 더 많았으나 새로운 안전성 신호는 없음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7680960" y="1508760"/>
            <a:ext cx="3931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7955280" y="1508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1건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9326880" y="15087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치료 관련 사망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(Arm A, 5등급 폐렴)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7680960" y="3063240"/>
            <a:ext cx="3931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955280" y="3063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0명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9326880" y="30632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면역 관련 AE 후 재투여 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재발한 환자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680960" y="4617720"/>
            <a:ext cx="3931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955280" y="4617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없음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9326880" y="46177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새로운 안전성 신호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(AE 유형은 군 간 유사)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간 관련 면역 이상반응은 대부분 표준 알고리즘으로 해소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9494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280160"/>
                <a:gridCol w="1280160"/>
                <a:gridCol w="12801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 관련 면역 이상반응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Arm A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Arm B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Arm C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B5B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발생 환자 수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발현까지 기간, 중앙값 (주)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5.6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8.1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5.9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해소율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90%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83%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67%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고용량 스테로이드 사용*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7명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3명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2명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2976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* 프레드니손 ≥40 mg/일 또는 동등 용량, 중앙 1–3주 · 추가 면역억제제 사용 환자 없음</a:t>
            </a:r>
            <a:endParaRPr lang="en-US" sz="1200" dirty="0"/>
          </a:p>
        </p:txBody>
      </p:sp>
      <p:sp>
        <p:nvSpPr>
          <p:cNvPr id="6" name="Shape 2"/>
          <p:cNvSpPr/>
          <p:nvPr/>
        </p:nvSpPr>
        <p:spPr>
          <a:xfrm>
            <a:off x="7863840" y="1463040"/>
            <a:ext cx="37490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8138160" y="164592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바이러스 재활성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HBV 7/82 (9%) · HCV 4/39 (10%)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간 관련 중대 이상반응과 연관 없음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7863840" y="3886200"/>
            <a:ext cx="3749040" cy="2148840"/>
          </a:xfrm>
          <a:prstGeom prst="roundRect">
            <a:avLst>
              <a:gd name="adj" fmla="val 5106"/>
            </a:avLst>
          </a:prstGeom>
          <a:solidFill>
            <a:schemeClr val="tx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138160" y="40690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환자 보고 건강 상태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EQ-5D 모든 군에서 개선 경향, Arm A에서 가장 큰 개선 — 높은 AE 발생률에도 불구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48640" y="4983480"/>
            <a:ext cx="69494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822960" y="4983480"/>
            <a:ext cx="6492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TRAE로 인한 중단 중 3–4등급: Arm A 5명 · B 2명 · C 1명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간접 비교: 기존 2차 치료 대비 높은 ORR과 긴 OS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67512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7406640" y="1417320"/>
          <a:ext cx="42062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1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서로 다른 시험 간 간접 비교로 해석에 주의 필요 · * AFP ≥400 μg/L 환자 · 회색 = PD-1 단독, 연청색 = 표적치료제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해석 시 고려해야 할 한계점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64592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1645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5544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소규모 공개 라벨 1/2상 연구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군 간 차이를 검출할 통계적 검정력 없음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83464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2834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274320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대조군 부재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특히 nivolumab 단독 비교군이 없어 ipilimumab 추가 효과의 직접 평가 불가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402336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4023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39319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층화 없는 무작위 배정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소규모 환자군으로 예후 인자가 군 간 균형을 이루지 않았을 가능성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589520" y="1554480"/>
            <a:ext cx="40233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09560" y="178308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그럼에도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고위험·다수 전치료 환자, 간외 전이 및 AFP 상승 빈도가 높은 비선택적 환자군 — 실제 진료 환경과의 연관성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→ 더 큰 규모의 무작위 활성 대조 연구로 확인 필요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결론 및 임상적 의의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174E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6002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유효성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514600" y="16002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모든 용량군에서 ORR 약 30%, CR 7명, 반응자의 약 30%는 24개월 이상 반응 유지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679192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174E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67919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생존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2679192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Arm A 중앙 OS 22.8개월, 24개월 생존율 48% — 반응 달성 시 생존 연장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758184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174E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758184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안전성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3758184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Arm A에서 AE가 더 많으나 기존 알고리즘으로 관리 가능, 간 관련 imAE 대부분 해소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4837176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174E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4837176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승인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514600" y="4837176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Arm A 요법 미국 FDA 2차 HCC 가속 승인: NIVO 1 mg/kg + IPI 3 mg/kg Q3W ×4 → NIVO 240 mg Q2W 또는 480 mg Q4W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1차 치료 연구 진행: CheckMate 9DW (NCT04039607)  ·  Yau T, et al. JAMA Oncol. 2020;6(11):e204564</a:t>
            </a:r>
            <a:endParaRPr lang="en-US" sz="120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18" name="Text 0"/>
          <p:cNvSpPr/>
          <p:nvPr>
            <p:ph idx="101" type="body" hasCustomPrompt="1"/>
          </p:nvPr>
        </p:nvSpPr>
        <p:spPr>
          <a:xfrm>
            <a:off x="731520" y="384048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eckMate040">
  <a:themeElements>
    <a:clrScheme name="CheckMate040">
      <a:dk1>
        <a:srgbClr val="1F2A30"/>
      </a:dk1>
      <a:lt1>
        <a:srgbClr val="FFFFFF"/>
      </a:lt1>
      <a:dk2>
        <a:srgbClr val="0B3C49"/>
      </a:dk2>
      <a:lt2>
        <a:srgbClr val="EEF4F5"/>
      </a:lt2>
      <a:accent1>
        <a:srgbClr val="E07A2E"/>
      </a:accent1>
      <a:accent2>
        <a:srgbClr val="2E7D8C"/>
      </a:accent2>
      <a:accent3>
        <a:srgbClr val="8FB5BD"/>
      </a:accent3>
      <a:accent4>
        <a:srgbClr val="B23A48"/>
      </a:accent4>
      <a:accent5>
        <a:srgbClr val="6B7A80"/>
      </a:accent5>
      <a:accent6>
        <a:srgbClr val="F6D9C2"/>
      </a:accent6>
      <a:hlink>
        <a:srgbClr val="2E7D8C"/>
      </a:hlink>
      <a:folHlink>
        <a:srgbClr val="6B7A80"/>
      </a:folHlink>
    </a:clrScheme>
    <a:fontScheme name="CheckMate040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CheckMate 040 — Nivolumab + Ipilimumab in advanced HCC</dc:title>
  <dc:subject>PptxGenJS Presentation</dc:subject>
  <dc:creator>PptxGenJS</dc:creator>
  <cp:lastModifiedBy>PptxGenJS</cp:lastModifiedBy>
  <cp:revision>1</cp:revision>
  <dcterms:created xsi:type="dcterms:W3CDTF">2026-10-17T01:44:49Z</dcterms:created>
  <dcterms:modified xsi:type="dcterms:W3CDTF">2026-10-17T01:44:49Z</dcterms:modified>
</cp:coreProperties>
</file>